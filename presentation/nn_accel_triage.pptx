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FB4E6"/>
                </a:solidFill>
                <a:latin typeface="Arial"/>
              </a:rPr>
              <a:t>NEURAL-NETWORK ACCELERATOR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 i="0">
                <a:solidFill>
                  <a:srgbClr val="FFFFFF"/>
                </a:solidFill>
                <a:latin typeface="Arial"/>
              </a:rPr>
              <a:t>NN-Accel-Triage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C9D6EA"/>
                </a:solidFill>
                <a:latin typeface="Arial"/>
              </a:rPr>
              <a:t>Agentic AI for Failure Triage and Root-Cause Hinting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C9D6EA"/>
                </a:solidFill>
                <a:latin typeface="Arial"/>
              </a:rPr>
              <a:t>in Neural-Network Accelerator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2514600" cy="566928"/>
          </a:xfrm>
          <a:prstGeom prst="roundRect">
            <a:avLst>
              <a:gd name="adj" fmla="val 6000"/>
            </a:avLst>
          </a:prstGeom>
          <a:solidFill>
            <a:srgbClr val="1E2A44"/>
          </a:solidFill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7FD0A3"/>
                </a:solidFill>
                <a:latin typeface="Arial"/>
              </a:rPr>
              <a:t>342.6×  </a:t>
            </a:r>
            <a:r>
              <a:rPr sz="1400" b="0" i="0">
                <a:solidFill>
                  <a:srgbClr val="E6ECF5"/>
                </a:solidFill>
                <a:latin typeface="Arial"/>
              </a:rPr>
              <a:t>faster triage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892040"/>
            <a:ext cx="2514600" cy="566928"/>
          </a:xfrm>
          <a:prstGeom prst="roundRect">
            <a:avLst>
              <a:gd name="adj" fmla="val 6000"/>
            </a:avLst>
          </a:prstGeom>
          <a:solidFill>
            <a:srgbClr val="1E2A44"/>
          </a:solidFill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7FD0A3"/>
                </a:solidFill>
                <a:latin typeface="Arial"/>
              </a:rPr>
              <a:t>100%  </a:t>
            </a:r>
            <a:r>
              <a:rPr sz="1400" b="0" i="0">
                <a:solidFill>
                  <a:srgbClr val="E6ECF5"/>
                </a:solidFill>
                <a:latin typeface="Arial"/>
              </a:rPr>
              <a:t>triage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892040"/>
            <a:ext cx="2514600" cy="566928"/>
          </a:xfrm>
          <a:prstGeom prst="roundRect">
            <a:avLst>
              <a:gd name="adj" fmla="val 6000"/>
            </a:avLst>
          </a:prstGeom>
          <a:solidFill>
            <a:srgbClr val="1E2A44"/>
          </a:solidFill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7FD0A3"/>
                </a:solidFill>
                <a:latin typeface="Arial"/>
              </a:rPr>
              <a:t>123  </a:t>
            </a:r>
            <a:r>
              <a:rPr sz="1400" b="0" i="0">
                <a:solidFill>
                  <a:srgbClr val="E6ECF5"/>
                </a:solidFill>
                <a:latin typeface="Arial"/>
              </a:rPr>
              <a:t>tests passing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8FA3C4"/>
                </a:solidFill>
                <a:latin typeface="Arial"/>
              </a:rPr>
              <a:t>Research project presentation  ·  2026  ·  RTL + CocoTB/Verilator +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Arial"/>
              </a:rPr>
              <a:t>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202C"/>
                </a:solidFill>
                <a:latin typeface="Arial"/>
              </a:rPr>
              <a:t>Verification produces failures faster than humans can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1064240" cy="30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127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NN-Accel-Triage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11064240" cy="4114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800" b="1" i="0">
                <a:solidFill>
                  <a:srgbClr val="2B6CB0"/>
                </a:solidFill>
                <a:latin typeface="Arial"/>
              </a:rPr>
              <a:t>▪  </a:t>
            </a:r>
            <a:r>
              <a:rPr sz="1800" b="0" i="0">
                <a:solidFill>
                  <a:srgbClr val="1A202C"/>
                </a:solidFill>
                <a:latin typeface="Arial"/>
              </a:rPr>
              <a:t>Neural-network accelerators (systolic </a:t>
            </a:r>
            <a:r>
              <a:rPr sz="1800" b="1" i="0">
                <a:solidFill>
                  <a:srgbClr val="1A202C"/>
                </a:solidFill>
                <a:latin typeface="Arial"/>
              </a:rPr>
              <a:t>MAC arrays</a:t>
            </a:r>
            <a:r>
              <a:rPr sz="1800" b="0" i="0">
                <a:solidFill>
                  <a:srgbClr val="1A202C"/>
                </a:solidFill>
                <a:latin typeface="Arial"/>
              </a:rPr>
              <a:t> + </a:t>
            </a:r>
            <a:r>
              <a:rPr sz="1800" b="1" i="0">
                <a:solidFill>
                  <a:srgbClr val="1A202C"/>
                </a:solidFill>
                <a:latin typeface="Arial"/>
              </a:rPr>
              <a:t>quantization units</a:t>
            </a:r>
            <a:r>
              <a:rPr sz="1800" b="0" i="0">
                <a:solidFill>
                  <a:srgbClr val="1A202C"/>
                </a:solidFill>
                <a:latin typeface="Arial"/>
              </a:rPr>
              <a:t>) are pervasive; functional correctness across tensor shapes, quantization, and memory behavior is safety-critical.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800" b="1" i="0">
                <a:solidFill>
                  <a:srgbClr val="2B6CB0"/>
                </a:solidFill>
                <a:latin typeface="Arial"/>
              </a:rPr>
              <a:t>▪  </a:t>
            </a:r>
            <a:r>
              <a:rPr sz="1800" b="0" i="0">
                <a:solidFill>
                  <a:srgbClr val="1A202C"/>
                </a:solidFill>
                <a:latin typeface="Arial"/>
              </a:rPr>
              <a:t>Verification runs </a:t>
            </a:r>
            <a:r>
              <a:rPr sz="1800" b="1" i="0">
                <a:solidFill>
                  <a:srgbClr val="1A202C"/>
                </a:solidFill>
                <a:latin typeface="Arial"/>
              </a:rPr>
              <a:t>large nightly regressions</a:t>
            </a:r>
            <a:r>
              <a:rPr sz="1800" b="0" i="0">
                <a:solidFill>
                  <a:srgbClr val="1A202C"/>
                </a:solidFill>
                <a:latin typeface="Arial"/>
              </a:rPr>
              <a:t>. When tests fail, engineers </a:t>
            </a:r>
            <a:r>
              <a:rPr sz="1800" b="1" i="0">
                <a:solidFill>
                  <a:srgbClr val="1A202C"/>
                </a:solidFill>
                <a:latin typeface="Arial"/>
              </a:rPr>
              <a:t>triage by hand</a:t>
            </a:r>
            <a:r>
              <a:rPr sz="1800" b="0" i="0">
                <a:solidFill>
                  <a:srgbClr val="1A202C"/>
                </a:solidFill>
                <a:latin typeface="Arial"/>
              </a:rPr>
              <a:t> — reading logs, waveforms, scoreboard diffs, and commit history to find the root cause.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800" b="1" i="0">
                <a:solidFill>
                  <a:srgbClr val="2B6CB0"/>
                </a:solidFill>
                <a:latin typeface="Arial"/>
              </a:rPr>
              <a:t>▪  </a:t>
            </a:r>
            <a:r>
              <a:rPr sz="1800" b="0" i="0">
                <a:solidFill>
                  <a:srgbClr val="1A202C"/>
                </a:solidFill>
                <a:latin typeface="Arial"/>
              </a:rPr>
              <a:t>Manual triage is </a:t>
            </a:r>
            <a:r>
              <a:rPr sz="1800" b="1" i="0">
                <a:solidFill>
                  <a:srgbClr val="1A202C"/>
                </a:solidFill>
                <a:latin typeface="Arial"/>
              </a:rPr>
              <a:t>slow (~3 hours per regression here), inconsistent, and does not scale</a:t>
            </a:r>
            <a:r>
              <a:rPr sz="1800" b="0" i="0">
                <a:solidFill>
                  <a:srgbClr val="1A202C"/>
                </a:solidFill>
                <a:latin typeface="Arial"/>
              </a:rPr>
              <a:t> as the design and test suite grow.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800" b="1" i="0">
                <a:solidFill>
                  <a:srgbClr val="2B6CB0"/>
                </a:solidFill>
                <a:latin typeface="Arial"/>
              </a:rPr>
              <a:t>▪  </a:t>
            </a:r>
            <a:r>
              <a:rPr sz="1800" b="0" i="0">
                <a:solidFill>
                  <a:srgbClr val="1A202C"/>
                </a:solidFill>
                <a:latin typeface="Arial"/>
              </a:rPr>
              <a:t>We present </a:t>
            </a:r>
            <a:r>
              <a:rPr sz="1800" b="1" i="0">
                <a:solidFill>
                  <a:srgbClr val="2B6CB0"/>
                </a:solidFill>
                <a:latin typeface="Arial"/>
              </a:rPr>
              <a:t>NN-Accel-Triage</a:t>
            </a:r>
            <a:r>
              <a:rPr sz="1800" b="0" i="0">
                <a:solidFill>
                  <a:srgbClr val="1A202C"/>
                </a:solidFill>
                <a:latin typeface="Arial"/>
              </a:rPr>
              <a:t>: a layered testbench plus an </a:t>
            </a:r>
            <a:r>
              <a:rPr sz="1800" b="1" i="0">
                <a:solidFill>
                  <a:srgbClr val="1A202C"/>
                </a:solidFill>
                <a:latin typeface="Arial"/>
              </a:rPr>
              <a:t>agentic AI</a:t>
            </a:r>
            <a:r>
              <a:rPr sz="1800" b="0" i="0">
                <a:solidFill>
                  <a:srgbClr val="1A202C"/>
                </a:solidFill>
                <a:latin typeface="Arial"/>
              </a:rPr>
              <a:t> that clusters failures, explains likely root causes, and recommends next debug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Arial"/>
              </a:rPr>
              <a:t>2 ·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202C"/>
                </a:solidFill>
                <a:latin typeface="Arial"/>
              </a:rPr>
              <a:t>Automate what an engineer does after a failing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1064240" cy="30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127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NN-Accel-Triage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91640"/>
            <a:ext cx="6400800" cy="4114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6000"/>
              </a:lnSpc>
              <a:spcAft>
                <a:spcPts val="1600"/>
              </a:spcAft>
            </a:pPr>
            <a:r>
              <a:rPr sz="1800" b="1" i="0">
                <a:solidFill>
                  <a:srgbClr val="2B6CB0"/>
                </a:solidFill>
                <a:latin typeface="Arial"/>
              </a:rPr>
              <a:t>▪  </a:t>
            </a:r>
            <a:r>
              <a:rPr sz="1800" b="1" i="0">
                <a:solidFill>
                  <a:srgbClr val="1A202C"/>
                </a:solidFill>
                <a:latin typeface="Arial"/>
              </a:rPr>
              <a:t>Input: </a:t>
            </a:r>
            <a:r>
              <a:rPr sz="1800" b="0" i="0">
                <a:solidFill>
                  <a:srgbClr val="1A202C"/>
                </a:solidFill>
                <a:latin typeface="Arial"/>
              </a:rPr>
              <a:t>a regression database of RTL simulation mismatches — logs, scoreboard diffs, traces, config, and commit metadata.</a:t>
            </a:r>
          </a:p>
          <a:p>
            <a:pPr>
              <a:lnSpc>
                <a:spcPct val="116000"/>
              </a:lnSpc>
              <a:spcAft>
                <a:spcPts val="1600"/>
              </a:spcAft>
            </a:pPr>
            <a:r>
              <a:rPr sz="1800" b="1" i="0">
                <a:solidFill>
                  <a:srgbClr val="2B6CB0"/>
                </a:solidFill>
                <a:latin typeface="Arial"/>
              </a:rPr>
              <a:t>▪  </a:t>
            </a:r>
            <a:r>
              <a:rPr sz="1800" b="1" i="0">
                <a:solidFill>
                  <a:srgbClr val="1A202C"/>
                </a:solidFill>
                <a:latin typeface="Arial"/>
              </a:rPr>
              <a:t>Required output: </a:t>
            </a:r>
            <a:r>
              <a:rPr sz="1800" b="0" i="0">
                <a:solidFill>
                  <a:srgbClr val="1A202C"/>
                </a:solidFill>
                <a:latin typeface="Arial"/>
              </a:rPr>
              <a:t>automatically (a) group failures by root cause, (b) explain each in natural language, and (c) recommend debug steps — reproducibly and faster than manual.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691640"/>
            <a:ext cx="4343400" cy="41148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874519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B6CB0"/>
                </a:solidFill>
                <a:latin typeface="Arial"/>
              </a:rPr>
              <a:t>Why it is hard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23160"/>
            <a:ext cx="3886200" cy="4114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500" b="1" i="0">
                <a:solidFill>
                  <a:srgbClr val="2B6CB0"/>
                </a:solidFill>
                <a:latin typeface="Arial"/>
              </a:rPr>
              <a:t>▪  </a:t>
            </a:r>
            <a:r>
              <a:rPr sz="1500" b="0" i="0">
                <a:solidFill>
                  <a:srgbClr val="1A202C"/>
                </a:solidFill>
                <a:latin typeface="Arial"/>
              </a:rPr>
              <a:t>Failure signals are </a:t>
            </a:r>
            <a:r>
              <a:rPr sz="1500" b="1" i="0">
                <a:solidFill>
                  <a:srgbClr val="1A202C"/>
                </a:solidFill>
                <a:latin typeface="Arial"/>
              </a:rPr>
              <a:t>heterogeneous</a:t>
            </a:r>
            <a:r>
              <a:rPr sz="1500" b="0" i="0">
                <a:solidFill>
                  <a:srgbClr val="1A202C"/>
                </a:solidFill>
                <a:latin typeface="Arial"/>
              </a:rPr>
              <a:t> — mismatch rate, error magnitude, first-divergence cycle, config.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500" b="1" i="0">
                <a:solidFill>
                  <a:srgbClr val="2B6CB0"/>
                </a:solidFill>
                <a:latin typeface="Arial"/>
              </a:rPr>
              <a:t>▪  </a:t>
            </a:r>
            <a:r>
              <a:rPr sz="1500" b="0" i="0">
                <a:solidFill>
                  <a:srgbClr val="1A202C"/>
                </a:solidFill>
                <a:latin typeface="Arial"/>
              </a:rPr>
              <a:t>The </a:t>
            </a:r>
            <a:r>
              <a:rPr sz="1500" b="1" i="0">
                <a:solidFill>
                  <a:srgbClr val="1A202C"/>
                </a:solidFill>
                <a:latin typeface="Arial"/>
              </a:rPr>
              <a:t>number of root causes is unknown</a:t>
            </a:r>
            <a:r>
              <a:rPr sz="1500" b="0" i="0">
                <a:solidFill>
                  <a:srgbClr val="1A202C"/>
                </a:solidFill>
                <a:latin typeface="Arial"/>
              </a:rPr>
              <a:t> a-priori.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500" b="1" i="0">
                <a:solidFill>
                  <a:srgbClr val="2B6CB0"/>
                </a:solidFill>
                <a:latin typeface="Arial"/>
              </a:rPr>
              <a:t>▪  </a:t>
            </a:r>
            <a:r>
              <a:rPr sz="1500" b="0" i="0">
                <a:solidFill>
                  <a:srgbClr val="1A202C"/>
                </a:solidFill>
                <a:latin typeface="Arial"/>
              </a:rPr>
              <a:t>Explanations must be </a:t>
            </a:r>
            <a:r>
              <a:rPr sz="1500" b="1" i="0">
                <a:solidFill>
                  <a:srgbClr val="1A202C"/>
                </a:solidFill>
                <a:latin typeface="Arial"/>
              </a:rPr>
              <a:t>domain-grounded</a:t>
            </a:r>
            <a:r>
              <a:rPr sz="1500" b="0" i="0">
                <a:solidFill>
                  <a:srgbClr val="1A202C"/>
                </a:solidFill>
                <a:latin typeface="Arial"/>
              </a:rPr>
              <a:t>, not generic.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500" b="1" i="0">
                <a:solidFill>
                  <a:srgbClr val="2B6CB0"/>
                </a:solidFill>
                <a:latin typeface="Arial"/>
              </a:rPr>
              <a:t>▪  </a:t>
            </a:r>
            <a:r>
              <a:rPr sz="1500" b="0" i="0">
                <a:solidFill>
                  <a:srgbClr val="1A202C"/>
                </a:solidFill>
                <a:latin typeface="Arial"/>
              </a:rPr>
              <a:t>Needs a </a:t>
            </a:r>
            <a:r>
              <a:rPr sz="1500" b="1" i="0">
                <a:solidFill>
                  <a:srgbClr val="1A202C"/>
                </a:solidFill>
                <a:latin typeface="Arial"/>
              </a:rPr>
              <a:t>fair, repeatable benchmark</a:t>
            </a:r>
            <a:r>
              <a:rPr sz="1500" b="0" i="0">
                <a:solidFill>
                  <a:srgbClr val="1A202C"/>
                </a:solidFill>
                <a:latin typeface="Arial"/>
              </a:rPr>
              <a:t> vs the manual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Arial"/>
              </a:rPr>
              <a:t>3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202C"/>
                </a:solidFill>
                <a:latin typeface="Arial"/>
              </a:rPr>
              <a:t>Five core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1064240" cy="30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127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NN-Accel-Triage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92224"/>
            <a:ext cx="9966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A202C"/>
                </a:solidFill>
                <a:latin typeface="Arial"/>
              </a:rPr>
              <a:t>Verify functional correctness</a:t>
            </a:r>
            <a:r>
              <a:rPr sz="1900" b="0" i="0">
                <a:solidFill>
                  <a:srgbClr val="33415C"/>
                </a:solidFill>
                <a:latin typeface="Arial"/>
              </a:rPr>
              <a:t> across tensor shapes, quantization modes, and memory behaviors.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24328"/>
            <a:ext cx="658368" cy="658368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79192"/>
            <a:ext cx="9966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A202C"/>
                </a:solidFill>
                <a:latin typeface="Arial"/>
              </a:rPr>
              <a:t>Cluster regression failures automatically</a:t>
            </a:r>
            <a:r>
              <a:rPr sz="1900" b="0" i="0">
                <a:solidFill>
                  <a:srgbClr val="33415C"/>
                </a:solidFill>
                <a:latin typeface="Arial"/>
              </a:rPr>
              <a:t> by symptom / root cause.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11296"/>
            <a:ext cx="658368" cy="658368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566160"/>
            <a:ext cx="9966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A202C"/>
                </a:solidFill>
                <a:latin typeface="Arial"/>
              </a:rPr>
              <a:t>Generate natural-language debug summaries</a:t>
            </a:r>
            <a:r>
              <a:rPr sz="1900" b="0" i="0">
                <a:solidFill>
                  <a:srgbClr val="33415C"/>
                </a:solidFill>
                <a:latin typeface="Arial"/>
              </a:rPr>
              <a:t> and likely root-cause hints.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98264"/>
            <a:ext cx="658368" cy="658368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453127"/>
            <a:ext cx="9966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A202C"/>
                </a:solidFill>
                <a:latin typeface="Arial"/>
              </a:rPr>
              <a:t>Benchmark triage time</a:t>
            </a:r>
            <a:r>
              <a:rPr sz="1900" b="0" i="0">
                <a:solidFill>
                  <a:srgbClr val="33415C"/>
                </a:solidFill>
                <a:latin typeface="Arial"/>
              </a:rPr>
              <a:t> against manual methods.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85231"/>
            <a:ext cx="658368" cy="658368"/>
          </a:xfrm>
          <a:prstGeom prst="roundRect">
            <a:avLst>
              <a:gd name="adj" fmla="val 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340095"/>
            <a:ext cx="9966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A202C"/>
                </a:solidFill>
                <a:latin typeface="Arial"/>
              </a:rPr>
              <a:t>Package a reproducible</a:t>
            </a:r>
            <a:r>
              <a:rPr sz="1900" b="0" i="0">
                <a:solidFill>
                  <a:srgbClr val="33415C"/>
                </a:solidFill>
                <a:latin typeface="Arial"/>
              </a:rPr>
              <a:t> failure-analysis benchmark others can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Arial"/>
              </a:rPr>
              <a:t>4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202C"/>
                </a:solidFill>
                <a:latin typeface="Arial"/>
              </a:rPr>
              <a:t>A seven-stage pipeline: from RTL fault to root-cause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1064240" cy="30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127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NN-Accel-Triage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Methodology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26700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73936"/>
            <a:ext cx="2359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B6CB0"/>
                </a:solidFill>
                <a:latin typeface="Arial"/>
              </a:rPr>
              <a:t>STAGE 1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A202C"/>
                </a:solidFill>
                <a:latin typeface="Arial"/>
              </a:rPr>
              <a:t>Design &amp; Fault Injection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Parameterized RTL; 13 fault variants across 8 categories (frozen ground truth).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26700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773936"/>
            <a:ext cx="2359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B6CB0"/>
                </a:solidFill>
                <a:latin typeface="Arial"/>
              </a:rPr>
              <a:t>STAGE 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A202C"/>
                </a:solidFill>
                <a:latin typeface="Arial"/>
              </a:rPr>
              <a:t>Simulation &amp; Logging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CocoTB + Verilator vs NumPy golden model; append 1 JSON record per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45920"/>
            <a:ext cx="26700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773936"/>
            <a:ext cx="2359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B6CB0"/>
                </a:solidFill>
                <a:latin typeface="Arial"/>
              </a:rPr>
              <a:t>STAGE 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A202C"/>
                </a:solidFill>
                <a:latin typeface="Arial"/>
              </a:rPr>
              <a:t>Feature Extraction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13 features / record (+ optional VCD divergence signals).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984" y="1645920"/>
            <a:ext cx="2670048" cy="1572768"/>
          </a:xfrm>
          <a:prstGeom prst="roundRect">
            <a:avLst>
              <a:gd name="adj" fmla="val 6000"/>
            </a:avLst>
          </a:prstGeom>
          <a:solidFill>
            <a:srgbClr val="F3F8FD"/>
          </a:solidFill>
          <a:ln w="15875">
            <a:solidFill>
              <a:srgbClr val="BC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576" y="1773936"/>
            <a:ext cx="2359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B6CB0"/>
                </a:solidFill>
                <a:latin typeface="Arial"/>
              </a:rPr>
              <a:t>STAGE 4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A202C"/>
                </a:solidFill>
                <a:latin typeface="Arial"/>
              </a:rPr>
              <a:t>Clustering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DBSCAN over feature vectors + rule-based symptom labels.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66160"/>
            <a:ext cx="2670048" cy="1572768"/>
          </a:xfrm>
          <a:prstGeom prst="roundRect">
            <a:avLst>
              <a:gd name="adj" fmla="val 6000"/>
            </a:avLst>
          </a:prstGeom>
          <a:solidFill>
            <a:srgbClr val="F3F8FD"/>
          </a:solidFill>
          <a:ln w="15875">
            <a:solidFill>
              <a:srgbClr val="BC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94176"/>
            <a:ext cx="2359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B6CB0"/>
                </a:solidFill>
                <a:latin typeface="Arial"/>
              </a:rPr>
              <a:t>STAGE 5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A202C"/>
                </a:solidFill>
                <a:latin typeface="Arial"/>
              </a:rPr>
              <a:t>Agentic Triage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Claude + RAG (TF-IDF) + multi-turn debug loop → cause, confidence,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566160"/>
            <a:ext cx="2670048" cy="1572768"/>
          </a:xfrm>
          <a:prstGeom prst="roundRect">
            <a:avLst>
              <a:gd name="adj" fmla="val 6000"/>
            </a:avLst>
          </a:prstGeom>
          <a:solidFill>
            <a:srgbClr val="F3F8FD"/>
          </a:solidFill>
          <a:ln w="15875">
            <a:solidFill>
              <a:srgbClr val="BC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3694176"/>
            <a:ext cx="2359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B6CB0"/>
                </a:solidFill>
                <a:latin typeface="Arial"/>
              </a:rPr>
              <a:t>STAGE 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A202C"/>
                </a:solidFill>
                <a:latin typeface="Arial"/>
              </a:rPr>
              <a:t>Benchmark &amp; Eval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Per-label P/R/F1 &amp; accuracy vs ground truth; time &amp; speedup; no-LLM baseline.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566160"/>
            <a:ext cx="2670048" cy="1572768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 w="15875">
            <a:solidFill>
              <a:srgbClr val="BF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694176"/>
            <a:ext cx="2359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B6CB0"/>
                </a:solidFill>
                <a:latin typeface="Arial"/>
              </a:rPr>
              <a:t>STAGE 7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A202C"/>
                </a:solidFill>
                <a:latin typeface="Arial"/>
              </a:rPr>
              <a:t>Packaging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Docker one-command pipeline, HTML dashboard, released dataset.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984" y="3566160"/>
            <a:ext cx="26700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3694176"/>
            <a:ext cx="2359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F855A"/>
                </a:solidFill>
                <a:latin typeface="Arial"/>
              </a:rPr>
              <a:t>DATA BUS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A202C"/>
                </a:solidFill>
                <a:latin typeface="Consolas"/>
              </a:rPr>
              <a:t>regression_db.jsonl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Append-only shared log wired through every stage (1→2→3→4→5→6→7).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Arial"/>
              </a:rPr>
              <a:t>5 · SYSTEM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202C"/>
                </a:solidFill>
                <a:latin typeface="Arial"/>
              </a:rPr>
              <a:t>Watch one failing test flow through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1064240" cy="30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127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NN-Accel-Triage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System in Action</a:t>
            </a:r>
          </a:p>
        </p:txBody>
      </p:sp>
      <p:pic>
        <p:nvPicPr>
          <p:cNvPr id="9" name="Picture 8" descr="pipeline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515600" cy="47320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A6B82"/>
                </a:solidFill>
                <a:latin typeface="Arial"/>
              </a:rPr>
              <a:t>Animated GIF — plays automatically in Slide Show mode. </a:t>
            </a:r>
            <a:r>
              <a:rPr sz="1250" b="0" i="1">
                <a:solidFill>
                  <a:srgbClr val="5A6B82"/>
                </a:solidFill>
                <a:latin typeface="Arial"/>
              </a:rPr>
              <a:t>A fault flows: RTL → simulate → mismatch record → cluster → Claude triage → root-cause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Arial"/>
              </a:rPr>
              <a:t>6 · VISUALS — TRIAGE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202C"/>
                </a:solidFill>
                <a:latin typeface="Arial"/>
              </a:rPr>
              <a:t>One dashboard: verification, explanation, and packaging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1064240" cy="30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127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NN-Accel-Triage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Visuals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6CB0"/>
                </a:solidFill>
                <a:latin typeface="Arial"/>
              </a:rPr>
              <a:t>Verification</a:t>
            </a:r>
          </a:p>
        </p:txBody>
      </p:sp>
      <p:pic>
        <p:nvPicPr>
          <p:cNvPr id="11" name="Picture 10" descr="dash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2148840"/>
            <a:ext cx="2852928" cy="3566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8" y="58064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82"/>
                </a:solidFill>
                <a:latin typeface="Arial"/>
              </a:rPr>
              <a:t>Cluster summary + 27 records (15 pass / 12 fail).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600200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7373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6CB0"/>
                </a:solidFill>
                <a:latin typeface="Arial"/>
              </a:rPr>
              <a:t>Explanation + Debugging</a:t>
            </a:r>
          </a:p>
        </p:txBody>
      </p:sp>
      <p:pic>
        <p:nvPicPr>
          <p:cNvPr id="15" name="Picture 14" descr="dash_explain_de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725" y="2148840"/>
            <a:ext cx="2037805" cy="3566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44568" y="58064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82"/>
                </a:solidFill>
                <a:latin typeface="Arial"/>
              </a:rPr>
              <a:t>Per-cluster likely cause + debug steps.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600200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7373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6CB0"/>
                </a:solidFill>
                <a:latin typeface="Arial"/>
              </a:rPr>
              <a:t>Packaging / Benchmark</a:t>
            </a:r>
          </a:p>
        </p:txBody>
      </p:sp>
      <p:pic>
        <p:nvPicPr>
          <p:cNvPr id="19" name="Picture 18" descr="dash_packag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2148840"/>
            <a:ext cx="3246120" cy="17312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39328" y="58064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82"/>
                </a:solidFill>
                <a:latin typeface="Arial"/>
              </a:rPr>
              <a:t>Stage timing + headline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Arial"/>
              </a:rPr>
              <a:t>7 · OUTPUTS — FAULT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A202C"/>
                </a:solidFill>
                <a:latin typeface="Arial"/>
              </a:rPr>
              <a:t>13 fault variants mapped to 8 ground-truth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1064240" cy="30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127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NN-Accel-Triage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Outputs · Dataset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  <a:gridCol w="3017520"/>
              </a:tblGrid>
              <a:tr h="3733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3415C"/>
                          </a:solidFill>
                          <a:latin typeface="Arial"/>
                        </a:rPr>
                        <a:t>Variant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3415C"/>
                          </a:solidFill>
                          <a:latin typeface="Arial"/>
                        </a:rPr>
                        <a:t>Injected bug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3415C"/>
                          </a:solidFill>
                          <a:latin typeface="Arial"/>
                        </a:rPr>
                        <a:t>Ground-truth label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Consolas"/>
                        </a:rPr>
                        <a:t>fault_acc_overflow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Arial"/>
                        </a:rPr>
                        <a:t>Accumulator 32→16 bit; sums overflow silently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7791F"/>
                          </a:solidFill>
                          <a:latin typeface="Arial"/>
                        </a:rPr>
                        <a:t>accumulator_overflow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Consolas"/>
                        </a:rPr>
                        <a:t>fault_acc_w24 / w20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Arial"/>
                        </a:rPr>
                        <a:t>Accumulator narrowed to 24 / 20 bit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7791F"/>
                          </a:solidFill>
                          <a:latin typeface="Arial"/>
                        </a:rPr>
                        <a:t>accumulator_overflow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Consolas"/>
                        </a:rPr>
                        <a:t>fault_wrong_sign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Arial"/>
                        </a:rPr>
                        <a:t>Weight cast signed→unsigned; no sign-extend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7791F"/>
                          </a:solidFill>
                          <a:latin typeface="Arial"/>
                        </a:rPr>
                        <a:t>sign_extension_error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Consolas"/>
                        </a:rPr>
                        <a:t>fault_b_unsigned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Arial"/>
                        </a:rPr>
                        <a:t>B_reg loses signed qualifier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7791F"/>
                          </a:solidFill>
                          <a:latin typeface="Arial"/>
                        </a:rPr>
                        <a:t>sign_extension_error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Consolas"/>
                        </a:rPr>
                        <a:t>fault_off_by_one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Arial"/>
                        </a:rPr>
                        <a:t>Outer loop ends at N-2; last column dropped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7791F"/>
                          </a:solidFill>
                          <a:latin typeface="Arial"/>
                        </a:rPr>
                        <a:t>loop_boundary_error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Consolas"/>
                        </a:rPr>
                        <a:t>fault_loop_over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Arial"/>
                        </a:rPr>
                        <a:t>Spatial loop runs N+1×; OOB extra product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7791F"/>
                          </a:solidFill>
                          <a:latin typeface="Arial"/>
                        </a:rPr>
                        <a:t>loop_boundary_error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Consolas"/>
                        </a:rPr>
                        <a:t>fault_subtract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Arial"/>
                        </a:rPr>
                        <a:t>Accumulator subtracts instead of adds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7791F"/>
                          </a:solidFill>
                          <a:latin typeface="Arial"/>
                        </a:rPr>
                        <a:t>arithmetic_error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Consolas"/>
                        </a:rPr>
                        <a:t>fault_reset / quant_reset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Arial"/>
                        </a:rPr>
                        <a:t>Reset polarity inverted; stale outputs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7791F"/>
                          </a:solidFill>
                          <a:latin typeface="Arial"/>
                        </a:rPr>
                        <a:t>reset_polarity_error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Consolas"/>
                        </a:rPr>
                        <a:t>fault_quant_shift_fixed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Arial"/>
                        </a:rPr>
                        <a:t>Per-channel shift replaced by fixed &gt;&gt;1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7791F"/>
                          </a:solidFill>
                          <a:latin typeface="Arial"/>
                        </a:rPr>
                        <a:t>shift_error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Consolas"/>
                        </a:rPr>
                        <a:t>fault_quant_no_clamp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Arial"/>
                        </a:rPr>
                        <a:t>INT8 saturation clamp removed; wraps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7791F"/>
                          </a:solidFill>
                          <a:latin typeface="Arial"/>
                        </a:rPr>
                        <a:t>saturation_error</a:t>
                      </a:r>
                    </a:p>
                  </a:txBody>
                  <a:tcPr anchor="ctr" marT="25400" marB="25400">
                    <a:solidFill>
                      <a:srgbClr val="FAFCF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Consolas"/>
                        </a:rPr>
                        <a:t>fault_quant_wrong_sign_zp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202C"/>
                          </a:solidFill>
                          <a:latin typeface="Arial"/>
                        </a:rPr>
                        <a:t>zero_pt added unsigned instead of signed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7791F"/>
                          </a:solidFill>
                          <a:latin typeface="Arial"/>
                        </a:rPr>
                        <a:t>zero_point_error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Arial"/>
              </a:rPr>
              <a:t>7 · OUTPUTS —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A202C"/>
                </a:solidFill>
                <a:latin typeface="Arial"/>
              </a:rPr>
              <a:t>Per-label triage evaluation vs ground truth (27 records)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1064240" cy="30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127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NN-Accel-Triage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Outputs · Evaluation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7360"/>
          <a:ext cx="667512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1005840"/>
                <a:gridCol w="914400"/>
                <a:gridCol w="1005840"/>
              </a:tblGrid>
              <a:tr h="48768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33415C"/>
                          </a:solidFill>
                          <a:latin typeface="Arial"/>
                        </a:rPr>
                        <a:t>Root-cause label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33415C"/>
                          </a:solidFill>
                          <a:latin typeface="Arial"/>
                        </a:rPr>
                        <a:t>Prec.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33415C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33415C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33415C"/>
                          </a:solidFill>
                          <a:latin typeface="Arial"/>
                        </a:rPr>
                        <a:t>Supp.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Consolas"/>
                        </a:rPr>
                        <a:t>no_fault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Consolas"/>
                        </a:rPr>
                        <a:t>accumulator_overflow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Consolas"/>
                        </a:rPr>
                        <a:t>loop_boundary_error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Consolas"/>
                        </a:rPr>
                        <a:t>reset_polarity_error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Consolas"/>
                        </a:rPr>
                        <a:t>sign_extension_error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202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173736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544" y="186537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F855A"/>
                </a:solidFill>
                <a:latin typeface="Arial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1544" y="24231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82"/>
                </a:solidFill>
                <a:latin typeface="Arial"/>
              </a:rPr>
              <a:t>Overall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73736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47504" y="186537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B6CB0"/>
                </a:solidFill>
                <a:latin typeface="Arial"/>
              </a:rPr>
              <a:t>1.000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47504" y="24231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82"/>
                </a:solidFill>
                <a:latin typeface="Arial"/>
              </a:rPr>
              <a:t>Mean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97180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1544" y="309981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202C"/>
                </a:solidFill>
                <a:latin typeface="Arial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365760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82"/>
                </a:solidFill>
                <a:latin typeface="Arial"/>
              </a:rPr>
              <a:t>Records evaluated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297180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47504" y="309981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202C"/>
                </a:solidFill>
                <a:latin typeface="Arial"/>
              </a:rPr>
              <a:t>1.00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47504" y="365760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82"/>
                </a:solidFill>
                <a:latin typeface="Arial"/>
              </a:rPr>
              <a:t>Macro-F1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029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15C"/>
                </a:solidFill>
                <a:latin typeface="Arial"/>
              </a:rPr>
              <a:t>Note: two accumulator-width faults (w24 / w20) are </a:t>
            </a:r>
            <a:r>
              <a:rPr sz="1400" b="1" i="0">
                <a:solidFill>
                  <a:srgbClr val="1A202C"/>
                </a:solidFill>
                <a:latin typeface="Arial"/>
              </a:rPr>
              <a:t>mathematically latent</a:t>
            </a:r>
            <a:r>
              <a:rPr sz="1400" b="0" i="0">
                <a:solidFill>
                  <a:srgbClr val="33415C"/>
                </a:solidFill>
                <a:latin typeface="Arial"/>
              </a:rPr>
              <a:t> for N=4 INT8 (max partial sum 64,516 &lt; 2²⁰) and correctly appear as passing — not misclassifications.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Arial"/>
              </a:rPr>
              <a:t>8 · RESULTS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202C"/>
                </a:solidFill>
                <a:latin typeface="Arial"/>
              </a:rPr>
              <a:t>Agentic triage: 100% accurate and 342× faster than manual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1064240" cy="30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127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NN-Accel-Triage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Results &amp; Conclusion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1907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F855A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860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Triage accuracy (LLM)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160020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71907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B6CB0"/>
                </a:solidFill>
                <a:latin typeface="Arial"/>
              </a:rPr>
              <a:t>342.6×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2860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Speedup vs manual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0020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71907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202C"/>
                </a:solidFill>
                <a:latin typeface="Arial"/>
              </a:rPr>
              <a:t>31.5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2860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vs ~180 min manual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51392" y="160020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171907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202C"/>
                </a:solidFill>
                <a:latin typeface="Arial"/>
              </a:rPr>
              <a:t>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22860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82"/>
                </a:solidFill>
                <a:latin typeface="Arial"/>
              </a:rPr>
              <a:t>Automated tests pass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2880360"/>
          <a:ext cx="11064240" cy="192024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737360"/>
                <a:gridCol w="1920240"/>
                <a:gridCol w="2926080"/>
              </a:tblGrid>
              <a:tr h="4800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3415C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3415C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3415C"/>
                          </a:solidFill>
                          <a:latin typeface="Arial"/>
                        </a:rPr>
                        <a:t>Mean conf.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3415C"/>
                          </a:solidFill>
                          <a:latin typeface="Arial"/>
                        </a:rPr>
                        <a:t>Triage time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33415C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Manual (human)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~180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Reference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Rule-based (no LLM)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B7791F"/>
                          </a:solidFill>
                          <a:latin typeface="Arial"/>
                        </a:rPr>
                        <a:t>72.7%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~0.07 s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Ablation — clustering only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202C"/>
                          </a:solidFill>
                          <a:latin typeface="Arial"/>
                        </a:rPr>
                        <a:t>LLM-augmented (ours)</a:t>
                      </a:r>
                    </a:p>
                  </a:txBody>
                  <a:tcPr anchor="ctr">
                    <a:solidFill>
                      <a:srgbClr val="F1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F855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>
                    <a:solidFill>
                      <a:srgbClr val="F1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anchor="ctr">
                    <a:solidFill>
                      <a:srgbClr val="F1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31.5 s</a:t>
                      </a:r>
                    </a:p>
                  </a:txBody>
                  <a:tcPr anchor="ctr">
                    <a:solidFill>
                      <a:srgbClr val="F1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202C"/>
                          </a:solidFill>
                          <a:latin typeface="Arial"/>
                        </a:rPr>
                        <a:t>Full agentic pipeline</a:t>
                      </a:r>
                    </a:p>
                  </a:txBody>
                  <a:tcPr anchor="ctr">
                    <a:solidFill>
                      <a:srgbClr val="F1FAF4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" y="502920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202C"/>
                </a:solidFill>
                <a:latin typeface="Arial"/>
              </a:rPr>
              <a:t>Conclusion: </a:t>
            </a:r>
            <a:r>
              <a:rPr sz="1500" b="0" i="0">
                <a:solidFill>
                  <a:srgbClr val="33415C"/>
                </a:solidFill>
                <a:latin typeface="Arial"/>
              </a:rPr>
              <a:t>the agentic component lifts accuracy 72.7% → 100% and confidence 0 → 1.0, while a fully reproducible Docker pipeline and released dataset let others re-run the benchmark. </a:t>
            </a:r>
            <a:r>
              <a:rPr sz="1500" b="1" i="0">
                <a:solidFill>
                  <a:srgbClr val="1A202C"/>
                </a:solidFill>
                <a:latin typeface="Arial"/>
              </a:rPr>
              <a:t>Limitations: </a:t>
            </a:r>
            <a:r>
              <a:rPr sz="1500" b="0" i="0">
                <a:solidFill>
                  <a:srgbClr val="33415C"/>
                </a:solidFill>
                <a:latin typeface="Arial"/>
              </a:rPr>
              <a:t>small 13-variant fault library and a single accelerator design — future work scales both and adds waveform-grounded retrieval.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B0"/>
                </a:solidFill>
                <a:latin typeface="Arial"/>
              </a:rPr>
              <a:t>9 ·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202C"/>
                </a:solidFill>
                <a:latin typeface="Arial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1064240" cy="30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00800"/>
            <a:ext cx="11064240" cy="127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NN-Accel-Triage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6464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82"/>
                </a:solidFill>
                <a:latin typeface="Arial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916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2B6CB0"/>
                </a:solidFill>
                <a:latin typeface="Arial"/>
              </a:rPr>
              <a:t>[1]  </a:t>
            </a:r>
            <a:r>
              <a:rPr sz="1300" b="0" i="0">
                <a:solidFill>
                  <a:srgbClr val="33415C"/>
                </a:solidFill>
                <a:latin typeface="Arial"/>
              </a:rPr>
              <a:t>W. Snyder et al. Verilator — open-source SystemVerilog simulator. veripool.org.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2B6CB0"/>
                </a:solidFill>
                <a:latin typeface="Arial"/>
              </a:rPr>
              <a:t>[2]  </a:t>
            </a:r>
            <a:r>
              <a:rPr sz="1300" b="0" i="0">
                <a:solidFill>
                  <a:srgbClr val="33415C"/>
                </a:solidFill>
                <a:latin typeface="Arial"/>
              </a:rPr>
              <a:t>cocotb — Coroutine-based Cosimulation Testbench. cocotb.org.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2B6CB0"/>
                </a:solidFill>
                <a:latin typeface="Arial"/>
              </a:rPr>
              <a:t>[3]  </a:t>
            </a:r>
            <a:r>
              <a:rPr sz="1300" b="0" i="0">
                <a:solidFill>
                  <a:srgbClr val="33415C"/>
                </a:solidFill>
                <a:latin typeface="Arial"/>
              </a:rPr>
              <a:t>M. Ester, H.-P. Kriegel, J. Sander, X. Xu. “A Density-Based Algorithm for Discovering Clusters (DBSCAN).” KDD, 1996.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2B6CB0"/>
                </a:solidFill>
                <a:latin typeface="Arial"/>
              </a:rPr>
              <a:t>[4]  </a:t>
            </a:r>
            <a:r>
              <a:rPr sz="1300" b="0" i="0">
                <a:solidFill>
                  <a:srgbClr val="33415C"/>
                </a:solidFill>
                <a:latin typeface="Arial"/>
              </a:rPr>
              <a:t>F. Pedregosa et al. “scikit-learn: Machine Learning in Python.” JMLR 12, 2011.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2B6CB0"/>
                </a:solidFill>
                <a:latin typeface="Arial"/>
              </a:rPr>
              <a:t>[5]  </a:t>
            </a:r>
            <a:r>
              <a:rPr sz="1300" b="0" i="0">
                <a:solidFill>
                  <a:srgbClr val="33415C"/>
                </a:solidFill>
                <a:latin typeface="Arial"/>
              </a:rPr>
              <a:t>P. Lewis et al. “Retrieval-Augmented Generation for Knowledge-Intensive NLP Tasks.” NeurIPS, 2020.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2B6CB0"/>
                </a:solidFill>
                <a:latin typeface="Arial"/>
              </a:rPr>
              <a:t>[6]  </a:t>
            </a:r>
            <a:r>
              <a:rPr sz="1300" b="0" i="0">
                <a:solidFill>
                  <a:srgbClr val="33415C"/>
                </a:solidFill>
                <a:latin typeface="Arial"/>
              </a:rPr>
              <a:t>G. Salton, C. Buckley. “Term-Weighting Approaches in Automatic Text Retrieval.” IP&amp;M, 1988.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2B6CB0"/>
                </a:solidFill>
                <a:latin typeface="Arial"/>
              </a:rPr>
              <a:t>[7]  </a:t>
            </a:r>
            <a:r>
              <a:rPr sz="1300" b="0" i="0">
                <a:solidFill>
                  <a:srgbClr val="33415C"/>
                </a:solidFill>
                <a:latin typeface="Arial"/>
              </a:rPr>
              <a:t>Anthropic. “Claude Models &amp; Messages API.” Technical documentation, 2024–2026.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2B6CB0"/>
                </a:solidFill>
                <a:latin typeface="Arial"/>
              </a:rPr>
              <a:t>[8]  </a:t>
            </a:r>
            <a:r>
              <a:rPr sz="1300" b="0" i="0">
                <a:solidFill>
                  <a:srgbClr val="33415C"/>
                </a:solidFill>
                <a:latin typeface="Arial"/>
              </a:rPr>
              <a:t>N. Jouppi et al. “In-Datacenter Performance Analysis of a Tensor Processing Unit.” ISCA, 2017.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2B6CB0"/>
                </a:solidFill>
                <a:latin typeface="Arial"/>
              </a:rPr>
              <a:t>[9]  </a:t>
            </a:r>
            <a:r>
              <a:rPr sz="1300" b="0" i="0">
                <a:solidFill>
                  <a:srgbClr val="33415C"/>
                </a:solidFill>
                <a:latin typeface="Arial"/>
              </a:rPr>
              <a:t>Accellera. Universal Verification Methodology (UVM) 1.2 Standard, 2014.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2B6CB0"/>
                </a:solidFill>
                <a:latin typeface="Arial"/>
              </a:rPr>
              <a:t>[10]  </a:t>
            </a:r>
            <a:r>
              <a:rPr sz="1300" b="0" i="0">
                <a:solidFill>
                  <a:srgbClr val="33415C"/>
                </a:solidFill>
                <a:latin typeface="Arial"/>
              </a:rPr>
              <a:t>B. Jacob et al. “Quantization and Training of NNs for Efficient Integer-Arithmetic Inference.” CVPR, 2018.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035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A6B82"/>
                </a:solidFill>
                <a:latin typeface="Arial"/>
              </a:rPr>
              <a:t>Related-work references compiled for context — verify / replace specifics before final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